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9"/>
  </p:notesMasterIdLst>
  <p:sldIdLst>
    <p:sldId id="256" r:id="rId2"/>
    <p:sldId id="257" r:id="rId3"/>
    <p:sldId id="269" r:id="rId4"/>
    <p:sldId id="260" r:id="rId5"/>
    <p:sldId id="266" r:id="rId6"/>
    <p:sldId id="267" r:id="rId7"/>
    <p:sldId id="268" r:id="rId8"/>
  </p:sldIdLst>
  <p:sldSz cx="9144000" cy="5143500" type="screen16x9"/>
  <p:notesSz cx="6858000" cy="9144000"/>
  <p:embeddedFontLst>
    <p:embeddedFont>
      <p:font typeface="Lobster" panose="00000500000000000000" pitchFamily="2" charset="0"/>
      <p:regular r:id="rId1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12"/>
    <p:restoredTop sz="94764"/>
  </p:normalViewPr>
  <p:slideViewPr>
    <p:cSldViewPr snapToGrid="0">
      <p:cViewPr>
        <p:scale>
          <a:sx n="141" d="100"/>
          <a:sy n="141" d="100"/>
        </p:scale>
        <p:origin x="41" y="41"/>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bb3febb12e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bb3febb12e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bb3febb12e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bb3febb12e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002060"/>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br>
              <a:rPr lang="en-US" dirty="0"/>
            </a:br>
            <a:r>
              <a:rPr lang="en-US" dirty="0">
                <a:solidFill>
                  <a:schemeClr val="bg1"/>
                </a:solidFill>
              </a:rPr>
              <a:t>Stock Markert Predictions</a:t>
            </a:r>
            <a:endParaRPr dirty="0">
              <a:solidFill>
                <a:schemeClr val="bg1"/>
              </a:solidFill>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fontScale="55000" lnSpcReduction="20000"/>
          </a:bodyPr>
          <a:lstStyle/>
          <a:p>
            <a:pPr marL="0" lvl="0" indent="0" algn="ctr" rtl="0">
              <a:spcBef>
                <a:spcPts val="0"/>
              </a:spcBef>
              <a:spcAft>
                <a:spcPts val="0"/>
              </a:spcAft>
              <a:buNone/>
            </a:pPr>
            <a:r>
              <a:rPr lang="en-US" dirty="0">
                <a:solidFill>
                  <a:schemeClr val="bg1"/>
                </a:solidFill>
              </a:rPr>
              <a:t>Justin Forkert </a:t>
            </a:r>
          </a:p>
          <a:p>
            <a:pPr marL="0" lvl="0" indent="0" algn="ctr" rtl="0">
              <a:spcBef>
                <a:spcPts val="0"/>
              </a:spcBef>
              <a:spcAft>
                <a:spcPts val="0"/>
              </a:spcAft>
              <a:buNone/>
            </a:pPr>
            <a:r>
              <a:rPr lang="en-US" dirty="0">
                <a:solidFill>
                  <a:schemeClr val="bg1"/>
                </a:solidFill>
              </a:rPr>
              <a:t>Andrew Thomas Krick</a:t>
            </a:r>
          </a:p>
          <a:p>
            <a:pPr marL="0" lvl="0" indent="0" algn="ctr" rtl="0">
              <a:spcBef>
                <a:spcPts val="0"/>
              </a:spcBef>
              <a:spcAft>
                <a:spcPts val="0"/>
              </a:spcAft>
              <a:buNone/>
            </a:pPr>
            <a:r>
              <a:rPr lang="en-US" dirty="0">
                <a:solidFill>
                  <a:schemeClr val="bg1"/>
                </a:solidFill>
              </a:rPr>
              <a:t>Josef </a:t>
            </a:r>
            <a:r>
              <a:rPr lang="en-US" dirty="0" err="1">
                <a:solidFill>
                  <a:schemeClr val="bg1"/>
                </a:solidFill>
              </a:rPr>
              <a:t>Mechure</a:t>
            </a:r>
            <a:endParaRPr lang="en-US" dirty="0">
              <a:solidFill>
                <a:schemeClr val="bg1"/>
              </a:solidFill>
            </a:endParaRPr>
          </a:p>
          <a:p>
            <a:pPr marL="0" lvl="0" indent="0" algn="ctr" rtl="0">
              <a:spcBef>
                <a:spcPts val="0"/>
              </a:spcBef>
              <a:spcAft>
                <a:spcPts val="0"/>
              </a:spcAft>
              <a:buNone/>
            </a:pPr>
            <a:endParaRPr dirty="0"/>
          </a:p>
        </p:txBody>
      </p:sp>
      <p:pic>
        <p:nvPicPr>
          <p:cNvPr id="1026" name="Picture 2">
            <a:extLst>
              <a:ext uri="{FF2B5EF4-FFF2-40B4-BE49-F238E27FC236}">
                <a16:creationId xmlns:a16="http://schemas.microsoft.com/office/drawing/2014/main" id="{9524B756-EABC-E4D7-07AC-C2ED25317D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121" y="212912"/>
            <a:ext cx="2447925" cy="16383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4"/>
          <p:cNvSpPr txBox="1">
            <a:spLocks noGrp="1"/>
          </p:cNvSpPr>
          <p:nvPr>
            <p:ph type="title"/>
          </p:nvPr>
        </p:nvSpPr>
        <p:spPr>
          <a:xfrm>
            <a:off x="311700" y="308398"/>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dirty="0">
                <a:solidFill>
                  <a:schemeClr val="bg1"/>
                </a:solidFill>
                <a:latin typeface="+mj-lt"/>
                <a:ea typeface="Lobster"/>
                <a:cs typeface="Lobster"/>
                <a:sym typeface="Lobster"/>
              </a:rPr>
              <a:t>Introduction</a:t>
            </a:r>
            <a:endParaRPr dirty="0">
              <a:solidFill>
                <a:schemeClr val="bg1"/>
              </a:solidFill>
              <a:latin typeface="+mj-lt"/>
              <a:ea typeface="Lobster"/>
              <a:cs typeface="Lobster"/>
              <a:sym typeface="Lobster"/>
            </a:endParaRPr>
          </a:p>
        </p:txBody>
      </p:sp>
      <p:sp>
        <p:nvSpPr>
          <p:cNvPr id="63" name="Google Shape;63;p14"/>
          <p:cNvSpPr txBox="1">
            <a:spLocks noGrp="1"/>
          </p:cNvSpPr>
          <p:nvPr>
            <p:ph type="body" idx="1"/>
          </p:nvPr>
        </p:nvSpPr>
        <p:spPr>
          <a:xfrm>
            <a:off x="311700" y="1352075"/>
            <a:ext cx="8520600" cy="3582600"/>
          </a:xfrm>
          <a:prstGeom prst="rect">
            <a:avLst/>
          </a:prstGeom>
        </p:spPr>
        <p:txBody>
          <a:bodyPr spcFirstLastPara="1" wrap="square" lIns="91425" tIns="91425" rIns="91425" bIns="91425" anchor="t" anchorCtr="0">
            <a:normAutofit/>
          </a:bodyPr>
          <a:lstStyle/>
          <a:p>
            <a:pPr marL="114300" indent="0">
              <a:buNone/>
            </a:pPr>
            <a:r>
              <a:rPr lang="en-US" dirty="0"/>
              <a:t>The S&amp;P 500 index represents a broad cross-section of the U.S. economy, comprising of 500 of the largest publicly traded companies across various sectors. Understanding the financial behavior of these companies is important for investors, portfolio managers, and policy analysts. However, the vast volume of historical stock data which would include prices, volumes, and company metadata, can be challenging to interpret without structured analysis.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3BDF2-67E0-35B3-7E1B-1A4C43D497FF}"/>
              </a:ext>
            </a:extLst>
          </p:cNvPr>
          <p:cNvSpPr>
            <a:spLocks noGrp="1"/>
          </p:cNvSpPr>
          <p:nvPr>
            <p:ph type="title"/>
          </p:nvPr>
        </p:nvSpPr>
        <p:spPr/>
        <p:txBody>
          <a:bodyPr>
            <a:normAutofit fontScale="90000"/>
          </a:bodyPr>
          <a:lstStyle/>
          <a:p>
            <a:pPr algn="ctr"/>
            <a:r>
              <a:rPr lang="en" dirty="0">
                <a:ea typeface="Lobster"/>
                <a:cs typeface="Lobster"/>
                <a:sym typeface="Lobster"/>
              </a:rPr>
              <a:t>Goals</a:t>
            </a:r>
            <a:endParaRPr lang="en-US" dirty="0"/>
          </a:p>
        </p:txBody>
      </p:sp>
      <p:sp>
        <p:nvSpPr>
          <p:cNvPr id="3" name="Text Placeholder 2">
            <a:extLst>
              <a:ext uri="{FF2B5EF4-FFF2-40B4-BE49-F238E27FC236}">
                <a16:creationId xmlns:a16="http://schemas.microsoft.com/office/drawing/2014/main" id="{14B37AD7-F2B7-24F1-0E85-850ECE1FCDEC}"/>
              </a:ext>
            </a:extLst>
          </p:cNvPr>
          <p:cNvSpPr>
            <a:spLocks noGrp="1"/>
          </p:cNvSpPr>
          <p:nvPr>
            <p:ph type="body" idx="1"/>
          </p:nvPr>
        </p:nvSpPr>
        <p:spPr/>
        <p:txBody>
          <a:bodyPr>
            <a:normAutofit fontScale="70000" lnSpcReduction="20000"/>
          </a:bodyPr>
          <a:lstStyle/>
          <a:p>
            <a:pPr marL="114300" indent="0">
              <a:buNone/>
            </a:pPr>
            <a:r>
              <a:rPr lang="en-US" dirty="0"/>
              <a:t>Performance Analysis: </a:t>
            </a:r>
          </a:p>
          <a:p>
            <a:r>
              <a:rPr lang="en-US" dirty="0"/>
              <a:t>Identifying which sectors have shown the most consistent growth over the past 10-15 years. </a:t>
            </a:r>
          </a:p>
          <a:p>
            <a:r>
              <a:rPr lang="en-US" dirty="0"/>
              <a:t>Helping investment analysts or portfolio managers allocate capital more effectively across industries. 	</a:t>
            </a:r>
          </a:p>
          <a:p>
            <a:pPr marL="114300" indent="0">
              <a:buNone/>
            </a:pPr>
            <a:endParaRPr lang="en-US" dirty="0"/>
          </a:p>
          <a:p>
            <a:pPr marL="114300" indent="0">
              <a:buNone/>
            </a:pPr>
            <a:r>
              <a:rPr lang="en-US" dirty="0"/>
              <a:t>Trend Detection and Predictive Insights: </a:t>
            </a:r>
          </a:p>
          <a:p>
            <a:r>
              <a:rPr lang="en-US" dirty="0"/>
              <a:t>Predicting future stock performance using moving averages, volatility bands, or momentum indicators </a:t>
            </a:r>
          </a:p>
          <a:p>
            <a:r>
              <a:rPr lang="en-US" dirty="0"/>
              <a:t>The aim is to build a predictive model for financial decision support. </a:t>
            </a:r>
          </a:p>
          <a:p>
            <a:pPr marL="114300" indent="0">
              <a:buNone/>
            </a:pPr>
            <a:endParaRPr lang="en-US" dirty="0"/>
          </a:p>
          <a:p>
            <a:pPr marL="114300" indent="0">
              <a:buNone/>
            </a:pPr>
            <a:r>
              <a:rPr lang="en-US" dirty="0"/>
              <a:t>Volume and Liquidity Insights: </a:t>
            </a:r>
          </a:p>
          <a:p>
            <a:r>
              <a:rPr lang="en-US" dirty="0"/>
              <a:t>Examining the relationship between trading volume and price volatility </a:t>
            </a:r>
          </a:p>
          <a:p>
            <a:r>
              <a:rPr lang="en-US" dirty="0"/>
              <a:t>The purpose is to help traders assess liquidity risk and time large trades. </a:t>
            </a:r>
          </a:p>
          <a:p>
            <a:pPr marL="114300" indent="0">
              <a:buNone/>
            </a:pPr>
            <a:endParaRPr lang="en-US" dirty="0"/>
          </a:p>
          <a:p>
            <a:pPr marL="114300" indent="0">
              <a:buNone/>
            </a:pPr>
            <a:r>
              <a:rPr lang="en-US" dirty="0"/>
              <a:t>Corporate Health Comparison: </a:t>
            </a:r>
          </a:p>
          <a:p>
            <a:r>
              <a:rPr lang="en-US" dirty="0"/>
              <a:t>Examining how stock performance differs between large-cap and mid-cap firms within the S&amp;P 500. </a:t>
            </a:r>
          </a:p>
          <a:p>
            <a:r>
              <a:rPr lang="en-US" dirty="0"/>
              <a:t>This is meant to guide decisions in diversified fund construction or custom indexing. </a:t>
            </a:r>
          </a:p>
        </p:txBody>
      </p:sp>
    </p:spTree>
    <p:extLst>
      <p:ext uri="{BB962C8B-B14F-4D97-AF65-F5344CB8AC3E}">
        <p14:creationId xmlns:p14="http://schemas.microsoft.com/office/powerpoint/2010/main" val="29930527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7"/>
          <p:cNvSpPr txBox="1">
            <a:spLocks noGrp="1"/>
          </p:cNvSpPr>
          <p:nvPr>
            <p:ph type="title"/>
          </p:nvPr>
        </p:nvSpPr>
        <p:spPr>
          <a:xfrm>
            <a:off x="311700" y="341264"/>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dirty="0">
                <a:latin typeface="+mj-lt"/>
                <a:ea typeface="Lobster"/>
                <a:cs typeface="Lobster"/>
                <a:sym typeface="Lobster"/>
              </a:rPr>
              <a:t>Dataset </a:t>
            </a:r>
            <a:endParaRPr dirty="0">
              <a:latin typeface="+mj-lt"/>
              <a:ea typeface="Lobster"/>
              <a:cs typeface="Lobster"/>
              <a:sym typeface="Lobster"/>
            </a:endParaRPr>
          </a:p>
        </p:txBody>
      </p:sp>
      <p:sp>
        <p:nvSpPr>
          <p:cNvPr id="84" name="Google Shape;84;p17"/>
          <p:cNvSpPr txBox="1">
            <a:spLocks noGrp="1"/>
          </p:cNvSpPr>
          <p:nvPr>
            <p:ph type="body" idx="1"/>
          </p:nvPr>
        </p:nvSpPr>
        <p:spPr>
          <a:xfrm>
            <a:off x="311700" y="1017725"/>
            <a:ext cx="8520600" cy="3558900"/>
          </a:xfrm>
          <a:prstGeom prst="rect">
            <a:avLst/>
          </a:prstGeom>
        </p:spPr>
        <p:txBody>
          <a:bodyPr spcFirstLastPara="1" wrap="square" lIns="91425" tIns="91425" rIns="91425" bIns="91425" anchor="t" anchorCtr="0">
            <a:normAutofit fontScale="85000" lnSpcReduction="10000"/>
          </a:bodyPr>
          <a:lstStyle/>
          <a:p>
            <a:pPr marL="114300" indent="0">
              <a:buNone/>
            </a:pPr>
            <a:r>
              <a:rPr lang="en-US" dirty="0"/>
              <a:t>Overview:</a:t>
            </a:r>
          </a:p>
          <a:p>
            <a:pPr marL="114300" indent="0">
              <a:buNone/>
            </a:pPr>
            <a:r>
              <a:rPr lang="en-US" dirty="0"/>
              <a:t>The dataset from Kaggle is a complete and comprehensive record of virtually every 	company traded in the US markets from the last 15 years. The dataset consists of 3 	spreadsheets, companies, index, and stocks. The data includes attributes, Exchange, Symbol, Short name, Long name, Sector, Industry, Current price, Market Cap, Ebit da, Revenue growth, City, State, Country, Full time employees, Long business summary, Weight, Date, S&amp;P500, Symbol, Adj Close, Close, High, 	Low, and Open.</a:t>
            </a:r>
          </a:p>
          <a:p>
            <a:pPr marL="114300" indent="0">
              <a:buNone/>
            </a:pPr>
            <a:endParaRPr lang="en-US" dirty="0"/>
          </a:p>
          <a:p>
            <a:pPr marL="114300" indent="0">
              <a:buNone/>
            </a:pPr>
            <a:endParaRPr lang="en-US" dirty="0"/>
          </a:p>
          <a:p>
            <a:pPr marL="114300" indent="0">
              <a:buNone/>
            </a:pPr>
            <a:r>
              <a:rPr lang="en-US" dirty="0"/>
              <a:t>Number of rows and columns:</a:t>
            </a:r>
          </a:p>
          <a:p>
            <a:r>
              <a:rPr lang="en-US" dirty="0"/>
              <a:t>sp500_companies: 502 rows and 16 columns </a:t>
            </a:r>
          </a:p>
          <a:p>
            <a:r>
              <a:rPr lang="en-US" dirty="0"/>
              <a:t>Sp500_index: 2517 rows and 2 columns  </a:t>
            </a:r>
          </a:p>
          <a:p>
            <a:r>
              <a:rPr lang="en-US" dirty="0"/>
              <a:t>sp500_stocks: 1048575 rows and 7 columns</a:t>
            </a:r>
          </a:p>
          <a:p>
            <a:pPr marL="1371600" lvl="0" indent="-323850" algn="l" rtl="0">
              <a:spcBef>
                <a:spcPts val="0"/>
              </a:spcBef>
              <a:spcAft>
                <a:spcPts val="0"/>
              </a:spcAft>
              <a:buSzPts val="1500"/>
              <a:buChar char="●"/>
            </a:pPr>
            <a:endParaRPr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E0744-3D19-2D44-91B5-D90F3B3A5E38}"/>
              </a:ext>
            </a:extLst>
          </p:cNvPr>
          <p:cNvSpPr>
            <a:spLocks noGrp="1"/>
          </p:cNvSpPr>
          <p:nvPr>
            <p:ph type="title"/>
          </p:nvPr>
        </p:nvSpPr>
        <p:spPr>
          <a:xfrm>
            <a:off x="311700" y="280742"/>
            <a:ext cx="8520600" cy="572700"/>
          </a:xfrm>
        </p:spPr>
        <p:txBody>
          <a:bodyPr>
            <a:normAutofit fontScale="90000"/>
          </a:bodyPr>
          <a:lstStyle/>
          <a:p>
            <a:pPr algn="ctr"/>
            <a:r>
              <a:rPr lang="en" dirty="0">
                <a:latin typeface="+mj-lt"/>
                <a:ea typeface="Lobster"/>
                <a:cs typeface="Lobster"/>
                <a:sym typeface="Lobster"/>
              </a:rPr>
              <a:t>Data Cleaning – Missing Values</a:t>
            </a:r>
            <a:endParaRPr lang="en-US" dirty="0">
              <a:latin typeface="+mj-lt"/>
            </a:endParaRPr>
          </a:p>
        </p:txBody>
      </p:sp>
    </p:spTree>
    <p:extLst>
      <p:ext uri="{BB962C8B-B14F-4D97-AF65-F5344CB8AC3E}">
        <p14:creationId xmlns:p14="http://schemas.microsoft.com/office/powerpoint/2010/main" val="6384830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3D648-AE92-3661-ACF3-AB2ADAEA4725}"/>
              </a:ext>
            </a:extLst>
          </p:cNvPr>
          <p:cNvSpPr>
            <a:spLocks noGrp="1"/>
          </p:cNvSpPr>
          <p:nvPr>
            <p:ph type="title"/>
          </p:nvPr>
        </p:nvSpPr>
        <p:spPr/>
        <p:txBody>
          <a:bodyPr>
            <a:normAutofit fontScale="90000"/>
          </a:bodyPr>
          <a:lstStyle/>
          <a:p>
            <a:pPr algn="ctr"/>
            <a:r>
              <a:rPr lang="en-US" dirty="0">
                <a:latin typeface="+mj-lt"/>
              </a:rPr>
              <a:t>Results</a:t>
            </a:r>
          </a:p>
        </p:txBody>
      </p:sp>
      <p:sp>
        <p:nvSpPr>
          <p:cNvPr id="3" name="Text Placeholder 2">
            <a:extLst>
              <a:ext uri="{FF2B5EF4-FFF2-40B4-BE49-F238E27FC236}">
                <a16:creationId xmlns:a16="http://schemas.microsoft.com/office/drawing/2014/main" id="{29C2F374-1FF2-5288-EB32-535A47AED722}"/>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67814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12699-6CD5-F8CB-A94D-56569122FF7C}"/>
              </a:ext>
            </a:extLst>
          </p:cNvPr>
          <p:cNvSpPr>
            <a:spLocks noGrp="1"/>
          </p:cNvSpPr>
          <p:nvPr>
            <p:ph type="title"/>
          </p:nvPr>
        </p:nvSpPr>
        <p:spPr/>
        <p:txBody>
          <a:bodyPr>
            <a:normAutofit fontScale="90000"/>
          </a:bodyPr>
          <a:lstStyle/>
          <a:p>
            <a:pPr algn="ctr"/>
            <a:r>
              <a:rPr lang="en-US" dirty="0"/>
              <a:t>Conclusion</a:t>
            </a:r>
          </a:p>
        </p:txBody>
      </p:sp>
      <p:sp>
        <p:nvSpPr>
          <p:cNvPr id="3" name="Text Placeholder 2">
            <a:extLst>
              <a:ext uri="{FF2B5EF4-FFF2-40B4-BE49-F238E27FC236}">
                <a16:creationId xmlns:a16="http://schemas.microsoft.com/office/drawing/2014/main" id="{D2091DE8-BA20-4BAC-0472-1D37DA7B614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44052807"/>
      </p:ext>
    </p:extLst>
  </p:cSld>
  <p:clrMapOvr>
    <a:masterClrMapping/>
  </p:clrMapOvr>
</p:sld>
</file>

<file path=ppt/theme/theme1.xml><?xml version="1.0" encoding="utf-8"?>
<a:theme xmlns:a="http://schemas.openxmlformats.org/drawingml/2006/main" name="Simple Light">
  <a:themeElements>
    <a:clrScheme name="Custom 3">
      <a:dk1>
        <a:srgbClr val="FFFFFF"/>
      </a:dk1>
      <a:lt1>
        <a:srgbClr val="FFFFFF"/>
      </a:lt1>
      <a:dk2>
        <a:srgbClr val="FFFFFF"/>
      </a:dk2>
      <a:lt2>
        <a:srgbClr val="FFFFFF"/>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Custom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12418</TotalTime>
  <Words>372</Words>
  <Application>Microsoft Office PowerPoint</Application>
  <PresentationFormat>On-screen Show (16:9)</PresentationFormat>
  <Paragraphs>34</Paragraphs>
  <Slides>7</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Lobster</vt:lpstr>
      <vt:lpstr>Arial</vt:lpstr>
      <vt:lpstr>Simple Light</vt:lpstr>
      <vt:lpstr> Stock Markert Predictions</vt:lpstr>
      <vt:lpstr>Introduction</vt:lpstr>
      <vt:lpstr>Goals</vt:lpstr>
      <vt:lpstr>Dataset </vt:lpstr>
      <vt:lpstr>Data Cleaning – Missing Values</vt:lpstr>
      <vt:lpstr>Results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Justin Forkert</dc:creator>
  <cp:lastModifiedBy>Justin Forkert</cp:lastModifiedBy>
  <cp:revision>66</cp:revision>
  <dcterms:modified xsi:type="dcterms:W3CDTF">2025-09-07T18:16:27Z</dcterms:modified>
</cp:coreProperties>
</file>